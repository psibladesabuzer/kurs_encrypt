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71" r:id="rId11"/>
    <p:sldId id="277" r:id="rId12"/>
    <p:sldId id="276" r:id="rId13"/>
    <p:sldId id="274" r:id="rId14"/>
    <p:sldId id="278" r:id="rId15"/>
    <p:sldId id="279" r:id="rId16"/>
    <p:sldId id="270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5" d="100"/>
          <a:sy n="155" d="100"/>
        </p:scale>
        <p:origin x="197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B4C71EC6-210F-42DE-9C53-41977AD35B3D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988840"/>
            <a:ext cx="9141720" cy="2527921"/>
          </a:xfrm>
        </p:spPr>
        <p:txBody>
          <a:bodyPr/>
          <a:lstStyle/>
          <a:p>
            <a:r>
              <a:rPr lang="ru-RU" sz="36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Разработка </a:t>
            </a:r>
            <a:r>
              <a:rPr lang="ru-RU" sz="3600" b="1" dirty="0" err="1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браузерного</a:t>
            </a:r>
            <a:r>
              <a:rPr lang="ru-RU" sz="36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расширения для локального шифрования почтовых вложений перед отправкой по электронной почте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19224" y="4797152"/>
            <a:ext cx="6400800" cy="1752600"/>
          </a:xfrm>
        </p:spPr>
        <p:txBody>
          <a:bodyPr>
            <a:normAutofit fontScale="92500" lnSpcReduction="10000"/>
          </a:bodyPr>
          <a:lstStyle/>
          <a:p>
            <a:pPr lvl="0" algn="r"/>
            <a:r>
              <a:rPr lang="ru-RU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Выполнил:</a:t>
            </a:r>
          </a:p>
          <a:p>
            <a:pPr lvl="0" algn="r"/>
            <a:r>
              <a:rPr lang="ru-RU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студент группы БИ-23Э1 </a:t>
            </a:r>
            <a:r>
              <a:rPr lang="ru-RU" sz="20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Куразов</a:t>
            </a:r>
            <a:r>
              <a:rPr lang="ru-RU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Илья </a:t>
            </a:r>
            <a:r>
              <a:rPr lang="ru-RU" sz="20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Ренатович</a:t>
            </a:r>
            <a:endParaRPr lang="ru-RU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r"/>
            <a:endParaRPr lang="ru-RU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r"/>
            <a:r>
              <a:rPr lang="ru-RU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Руководитель проекта:</a:t>
            </a:r>
          </a:p>
          <a:p>
            <a:pPr lvl="0" algn="r"/>
            <a:r>
              <a:rPr lang="ru-RU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доцент кафедры, к.т.н. Толкачева Елена Викторовна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260648"/>
            <a:ext cx="9144000" cy="152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Министерство образования и науки Российской Федерации</a:t>
            </a:r>
            <a:endParaRPr kumimoji="0" lang="ru-RU" sz="1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Федеральное государственное бюджетное образовательное учреждение</a:t>
            </a:r>
            <a:endParaRPr kumimoji="0" lang="ru-RU" sz="1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высшего образования</a:t>
            </a:r>
            <a:endParaRPr kumimoji="0" lang="ru-RU" sz="1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«Сибирский государственный автомобильно-дорожный университет(СибАДИ)»</a:t>
            </a:r>
            <a:endParaRPr kumimoji="0" lang="ru-RU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504" y="630932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65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23528"/>
          </a:xfrm>
        </p:spPr>
        <p:txBody>
          <a:bodyPr/>
          <a:lstStyle/>
          <a:p>
            <a:r>
              <a:rPr lang="ru-RU" sz="48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Цели и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412776"/>
            <a:ext cx="8928992" cy="5112568"/>
          </a:xfrm>
        </p:spPr>
        <p:txBody>
          <a:bodyPr>
            <a:no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ru-RU" b="1" dirty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Целью курсовой работы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является разработка программного средства, обеспечивающего защиту файловых вложений перед их передачей по электронной почте.</a:t>
            </a:r>
          </a:p>
          <a:p>
            <a:pPr marL="0" lvl="0" indent="0" algn="just">
              <a:spcAft>
                <a:spcPts val="1000"/>
              </a:spcAft>
              <a:buNone/>
            </a:pPr>
            <a:r>
              <a:rPr lang="ru-RU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Для достижения поставленной цели необходимо решить следующие </a:t>
            </a:r>
            <a:r>
              <a:rPr lang="ru-RU" sz="2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задачи</a:t>
            </a:r>
            <a:r>
              <a:rPr lang="ru-RU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buFont typeface="Arial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Изучить методы симметричного шифрования; </a:t>
            </a:r>
          </a:p>
          <a:p>
            <a:pPr algn="just">
              <a:buFont typeface="Arial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Исследовать алгоритм AES-256-GCM; </a:t>
            </a:r>
          </a:p>
          <a:p>
            <a:pPr algn="just">
              <a:buFont typeface="Arial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/>
                <a:ea typeface="Calibri"/>
              </a:rPr>
              <a:t>Выбрать технологии и инструменты для разработки программного решения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 algn="just">
              <a:buFont typeface="Arial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Разработать </a:t>
            </a:r>
            <a:r>
              <a:rPr lang="ru-RU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браузерное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расширение для защиты файловых вложений;</a:t>
            </a:r>
          </a:p>
          <a:p>
            <a:pPr algn="just">
              <a:buFont typeface="Arial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Реализовать шифрование и </a:t>
            </a:r>
            <a:r>
              <a:rPr lang="ru-RU" sz="2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расшифрование</a:t>
            </a: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файлов; </a:t>
            </a:r>
          </a:p>
          <a:p>
            <a:pPr algn="just">
              <a:buFont typeface="Arial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Провести тестирование разработанного решения.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630932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2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671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008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48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Симметричное шифрование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491880" y="1450854"/>
            <a:ext cx="2160240" cy="435441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335907" y="5805264"/>
            <a:ext cx="4472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/>
                <a:ea typeface="Calibri"/>
              </a:rPr>
              <a:t>Схема симметричного шифрования данных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07504" y="630932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3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646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23528"/>
          </a:xfrm>
        </p:spPr>
        <p:txBody>
          <a:bodyPr/>
          <a:lstStyle/>
          <a:p>
            <a:r>
              <a:rPr lang="ru-RU" sz="48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Алгоритм </a:t>
            </a:r>
            <a:r>
              <a:rPr lang="en-US" sz="48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AES</a:t>
            </a:r>
            <a:endParaRPr lang="ru-RU" sz="4800" b="1" dirty="0"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86650" y="1556792"/>
            <a:ext cx="3730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AES (Advanced Encryption Standard)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71725"/>
            <a:ext cx="7772400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459242" y="4521065"/>
            <a:ext cx="38579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Основные параметры алгоритма AES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630932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4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456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23528"/>
          </a:xfrm>
        </p:spPr>
        <p:txBody>
          <a:bodyPr/>
          <a:lstStyle/>
          <a:p>
            <a:r>
              <a:rPr lang="ru-RU" sz="48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Алгоритм </a:t>
            </a:r>
            <a:r>
              <a:rPr lang="en-US" sz="48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AES</a:t>
            </a:r>
            <a:endParaRPr lang="ru-RU" sz="4800" b="1" dirty="0"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96448" y="1341080"/>
            <a:ext cx="2651760" cy="496824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439216" y="6237312"/>
            <a:ext cx="4320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Упрощенная схема работы алгоритма AES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04" y="630932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5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656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1123528"/>
          </a:xfrm>
        </p:spPr>
        <p:txBody>
          <a:bodyPr/>
          <a:lstStyle/>
          <a:p>
            <a:r>
              <a:rPr lang="ru-RU" sz="47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Выбранные средства разработки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630932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6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55ED7-AAD4-4D4A-A25E-4E79D9158836}"/>
              </a:ext>
            </a:extLst>
          </p:cNvPr>
          <p:cNvSpPr txBox="1"/>
          <p:nvPr/>
        </p:nvSpPr>
        <p:spPr>
          <a:xfrm>
            <a:off x="323528" y="1381901"/>
            <a:ext cx="8496944" cy="4094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Языки программирования: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Python, JavaScript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Среда разработки: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PyCharm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Библиотека: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PyCryptodome</a:t>
            </a: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Технологии браузерного расширения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HTML, CSS, Web Crypto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Api</a:t>
            </a: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Используемые алгоритмы: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AES-256 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PBKDF2-HMAC-SHA256 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Режим шифрования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GCM</a:t>
            </a:r>
            <a:endParaRPr lang="ru-RU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625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1123528"/>
          </a:xfrm>
        </p:spPr>
        <p:txBody>
          <a:bodyPr/>
          <a:lstStyle/>
          <a:p>
            <a:r>
              <a:rPr lang="ru-RU" sz="43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Реализация программного средства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630932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7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564468-2DD4-4E81-8FBF-263F997AF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944" y="1312168"/>
            <a:ext cx="4020111" cy="4493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CC2BCC-AD9C-4943-9B86-A42ACCBA765D}"/>
              </a:ext>
            </a:extLst>
          </p:cNvPr>
          <p:cNvSpPr txBox="1"/>
          <p:nvPr/>
        </p:nvSpPr>
        <p:spPr>
          <a:xfrm>
            <a:off x="2561944" y="5949280"/>
            <a:ext cx="4020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Подключение библиотек и объявление основных параметров</a:t>
            </a:r>
          </a:p>
        </p:txBody>
      </p:sp>
    </p:spTree>
    <p:extLst>
      <p:ext uri="{BB962C8B-B14F-4D97-AF65-F5344CB8AC3E}">
        <p14:creationId xmlns:p14="http://schemas.microsoft.com/office/powerpoint/2010/main" val="2386317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1123528"/>
          </a:xfrm>
        </p:spPr>
        <p:txBody>
          <a:bodyPr/>
          <a:lstStyle/>
          <a:p>
            <a:r>
              <a:rPr lang="ru-RU" sz="43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Реализация программного средства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630932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8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541498-D8B7-4789-A027-312110711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69" y="1484784"/>
            <a:ext cx="7998662" cy="25922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50B78A-E1E0-4165-8CA7-5E1215935363}"/>
              </a:ext>
            </a:extLst>
          </p:cNvPr>
          <p:cNvSpPr txBox="1"/>
          <p:nvPr/>
        </p:nvSpPr>
        <p:spPr>
          <a:xfrm>
            <a:off x="683568" y="4293096"/>
            <a:ext cx="777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Пароль в </a:t>
            </a:r>
            <a:r>
              <a:rPr lang="en-US" dirty="0"/>
              <a:t>AES-</a:t>
            </a:r>
            <a:r>
              <a:rPr lang="ru-RU" dirty="0"/>
              <a:t>ключ</a:t>
            </a:r>
          </a:p>
        </p:txBody>
      </p:sp>
    </p:spTree>
    <p:extLst>
      <p:ext uri="{BB962C8B-B14F-4D97-AF65-F5344CB8AC3E}">
        <p14:creationId xmlns:p14="http://schemas.microsoft.com/office/powerpoint/2010/main" val="1897225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1123528"/>
          </a:xfrm>
        </p:spPr>
        <p:txBody>
          <a:bodyPr/>
          <a:lstStyle/>
          <a:p>
            <a:r>
              <a:rPr lang="ru-RU" sz="43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Реализация программного средства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630932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9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34FE36-BC54-420D-ACAC-5F796C8E4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" y="1315583"/>
            <a:ext cx="8202170" cy="44896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C0C2FB-D07A-4F67-862D-98A3F78B8C79}"/>
              </a:ext>
            </a:extLst>
          </p:cNvPr>
          <p:cNvSpPr txBox="1"/>
          <p:nvPr/>
        </p:nvSpPr>
        <p:spPr>
          <a:xfrm>
            <a:off x="467544" y="5949280"/>
            <a:ext cx="820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 файл записываются алгоритмы, </a:t>
            </a:r>
            <a:r>
              <a:rPr lang="en-US" dirty="0"/>
              <a:t>KDF, salt, </a:t>
            </a:r>
            <a:r>
              <a:rPr lang="ru-RU" dirty="0"/>
              <a:t>имя исходного файла</a:t>
            </a:r>
          </a:p>
        </p:txBody>
      </p:sp>
    </p:spTree>
    <p:extLst>
      <p:ext uri="{BB962C8B-B14F-4D97-AF65-F5344CB8AC3E}">
        <p14:creationId xmlns:p14="http://schemas.microsoft.com/office/powerpoint/2010/main" val="1219126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1123528"/>
          </a:xfrm>
        </p:spPr>
        <p:txBody>
          <a:bodyPr/>
          <a:lstStyle/>
          <a:p>
            <a:r>
              <a:rPr lang="ru-RU" sz="43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Реализация программного средства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630932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10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77689D-89A5-4536-87BC-E39718F8F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140" y="1312168"/>
            <a:ext cx="5951719" cy="47265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259701-A124-479E-8535-54734AD3751A}"/>
              </a:ext>
            </a:extLst>
          </p:cNvPr>
          <p:cNvSpPr txBox="1"/>
          <p:nvPr/>
        </p:nvSpPr>
        <p:spPr>
          <a:xfrm>
            <a:off x="1547664" y="6165304"/>
            <a:ext cx="60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Основной алгоритм шифрования</a:t>
            </a:r>
          </a:p>
        </p:txBody>
      </p:sp>
    </p:spTree>
    <p:extLst>
      <p:ext uri="{BB962C8B-B14F-4D97-AF65-F5344CB8AC3E}">
        <p14:creationId xmlns:p14="http://schemas.microsoft.com/office/powerpoint/2010/main" val="3990779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1123528"/>
          </a:xfrm>
        </p:spPr>
        <p:txBody>
          <a:bodyPr/>
          <a:lstStyle/>
          <a:p>
            <a:r>
              <a:rPr lang="ru-RU" sz="43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Реализация программного средства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6309320"/>
            <a:ext cx="481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11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AB2795-42C4-4E26-96EF-B1AB45504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755" y="1172645"/>
            <a:ext cx="5666490" cy="49206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38E9E5-B4A2-492D-8115-8E1900DE96FF}"/>
              </a:ext>
            </a:extLst>
          </p:cNvPr>
          <p:cNvSpPr txBox="1"/>
          <p:nvPr/>
        </p:nvSpPr>
        <p:spPr>
          <a:xfrm>
            <a:off x="1259632" y="6237312"/>
            <a:ext cx="6768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Основной алгоритм расшифрования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450900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1123528"/>
          </a:xfrm>
        </p:spPr>
        <p:txBody>
          <a:bodyPr/>
          <a:lstStyle/>
          <a:p>
            <a:r>
              <a:rPr lang="ru-RU" sz="43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Реализация программного средства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630932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12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666DC6-7277-421C-8C6C-97ED57113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548" y="1556792"/>
            <a:ext cx="6658904" cy="30655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488FA7-A7F7-406D-959D-6F29E466841B}"/>
              </a:ext>
            </a:extLst>
          </p:cNvPr>
          <p:cNvSpPr txBox="1"/>
          <p:nvPr/>
        </p:nvSpPr>
        <p:spPr>
          <a:xfrm>
            <a:off x="1187624" y="4869160"/>
            <a:ext cx="6768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Проверка целостности через </a:t>
            </a:r>
            <a:r>
              <a:rPr lang="en-US" dirty="0"/>
              <a:t>GCM-tag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6903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1123528"/>
          </a:xfrm>
        </p:spPr>
        <p:txBody>
          <a:bodyPr/>
          <a:lstStyle/>
          <a:p>
            <a:r>
              <a:rPr lang="ru-RU" sz="41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Тестирование программного средства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630932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14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8F0ADE-4A86-4544-A29B-66D31F56377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312168"/>
            <a:ext cx="3352800" cy="458216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A26DB0-C6D3-4AD2-AE6C-2BCBB514025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922" y="1312168"/>
            <a:ext cx="40005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285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1123528"/>
          </a:xfrm>
        </p:spPr>
        <p:txBody>
          <a:bodyPr/>
          <a:lstStyle/>
          <a:p>
            <a:r>
              <a:rPr lang="ru-RU" sz="41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Тестирование программного средства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630932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15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9BCBB3-D298-47E1-89D0-466C7691F2C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90" y="1312168"/>
            <a:ext cx="3305175" cy="459168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21A32C-B40C-4AFC-B0D5-2B9BE7EDF9B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425" y="1312168"/>
            <a:ext cx="401002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02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053EB83-CD23-4D30-BBFA-D6370558E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1123528"/>
          </a:xfrm>
        </p:spPr>
        <p:txBody>
          <a:bodyPr/>
          <a:lstStyle/>
          <a:p>
            <a:r>
              <a:rPr lang="ru-RU" sz="41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Тестирование программного средства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441DAC-1736-4B26-A5D6-47C055F0888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312168"/>
            <a:ext cx="3248025" cy="455358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E7BB25-7FA3-4519-972E-B4C60742AB6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312168"/>
            <a:ext cx="329565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553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008112"/>
          </a:xfrm>
        </p:spPr>
        <p:txBody>
          <a:bodyPr/>
          <a:lstStyle/>
          <a:p>
            <a:r>
              <a:rPr lang="ru-RU" sz="48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630932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16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EBB338-C9CA-4895-8266-E823B357C2CE}"/>
              </a:ext>
            </a:extLst>
          </p:cNvPr>
          <p:cNvSpPr txBox="1"/>
          <p:nvPr/>
        </p:nvSpPr>
        <p:spPr>
          <a:xfrm>
            <a:off x="467544" y="1340768"/>
            <a:ext cx="8229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	В ходе выполнения курсового проекта было реализовано программное средство для локального шифрования файлов. Были рассмотрены угрозы безопасности файловых вложений, принципы симметричного шифрования, алгоритм 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AES-GCM, </a:t>
            </a:r>
            <a:r>
              <a:rPr lang="ru-RU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механизм шифрования ключа на основе пароля с использованием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PBKDF2.</a:t>
            </a:r>
          </a:p>
          <a:p>
            <a:r>
              <a:rPr lang="ru-RU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	Также было проведено тестирование на работоспособность программного средства и безопасность браузерного расширения. </a:t>
            </a:r>
          </a:p>
          <a:p>
            <a:r>
              <a:rPr lang="ru-RU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	Таким образом, цель курсового проекта достигнута - 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разработано </a:t>
            </a:r>
            <a:r>
              <a:rPr lang="ru-RU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программное средство, </a:t>
            </a:r>
            <a:r>
              <a:rPr lang="ru-RU" dirty="0">
                <a:solidFill>
                  <a:schemeClr val="tx1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обеспечивающего защиту файловых вложений перед их передачей по электронной почте.</a:t>
            </a:r>
          </a:p>
          <a:p>
            <a:r>
              <a:rPr lang="en-US" dirty="0"/>
              <a:t>	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82111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1409</TotalTime>
  <Words>338</Words>
  <Application>Microsoft Office PowerPoint</Application>
  <PresentationFormat>Экран (4:3)</PresentationFormat>
  <Paragraphs>70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Century Gothic</vt:lpstr>
      <vt:lpstr>Courier New</vt:lpstr>
      <vt:lpstr>Palatino Linotype</vt:lpstr>
      <vt:lpstr>Times New Roman</vt:lpstr>
      <vt:lpstr>Исполнительная</vt:lpstr>
      <vt:lpstr>Разработка браузерного расширения для локального шифрования почтовых вложений перед отправкой по электронной почте</vt:lpstr>
      <vt:lpstr>Цели и задачи</vt:lpstr>
      <vt:lpstr>Симметричное шифрование</vt:lpstr>
      <vt:lpstr>Алгоритм AES</vt:lpstr>
      <vt:lpstr>Алгоритм AES</vt:lpstr>
      <vt:lpstr>Выбранные средства разработки</vt:lpstr>
      <vt:lpstr>Реализация программного средства</vt:lpstr>
      <vt:lpstr>Реализация программного средства</vt:lpstr>
      <vt:lpstr>Реализация программного средства</vt:lpstr>
      <vt:lpstr>Реализация программного средства</vt:lpstr>
      <vt:lpstr>Реализация программного средства</vt:lpstr>
      <vt:lpstr>Реализация программного средства</vt:lpstr>
      <vt:lpstr>Тестирование программного средства</vt:lpstr>
      <vt:lpstr>Тестирование программного средства</vt:lpstr>
      <vt:lpstr>Тестирование программного средства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браузерного расширения для локального шифрования почтовых вложений перед отправкой по электронной почте</dc:title>
  <dc:creator>Пользователь</dc:creator>
  <cp:lastModifiedBy>qinqva</cp:lastModifiedBy>
  <cp:revision>11</cp:revision>
  <dcterms:created xsi:type="dcterms:W3CDTF">2026-06-17T12:56:08Z</dcterms:created>
  <dcterms:modified xsi:type="dcterms:W3CDTF">2026-06-19T02:27:34Z</dcterms:modified>
</cp:coreProperties>
</file>